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</c:v>
                </c:pt>
                <c:pt idx="1">
                  <c:v>471</c:v>
                </c:pt>
                <c:pt idx="2">
                  <c:v>609</c:v>
                </c:pt>
                <c:pt idx="3">
                  <c:v>733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lineChart>
        <c:grouping val="none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ln w="31750" cap="flat" cmpd="sng" algn="ctr">
              <a:solidFill>
                <a:srgbClr val="B10E2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B10E28"/>
              </a:solidFill>
              <a:ln w="9525" cap="flat" cmpd="sng" algn="ctr">
                <a:solidFill>
                  <a:srgbClr val="B10E28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0.00441919191919192"/>
                  <c:y val="0.024002157497303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144300144300144"/>
                  <c:y val="0.01752966558791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441919191919192"/>
                  <c:y val="0.021709816612729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B10E28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62</c:v>
                </c:pt>
                <c:pt idx="2">
                  <c:v>82</c:v>
                </c:pt>
                <c:pt idx="3">
                  <c:v>93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595959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000" b="0" i="0" u="none" strike="noStrike">
                    <a:solidFill>
                      <a:srgbClr val="595959"/>
                    </a:solidFill>
                    <a:latin typeface="Arial" panose="020B0604020202020204"/>
                  </a:rPr>
                  <a:t>Sales ($K)</a:t>
                </a:r>
                <a:endParaRPr sz="1000" b="0" i="0" u="none" strike="noStrike">
                  <a:solidFill>
                    <a:srgbClr val="595959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200"/>
          <c:min val="0"/>
        </c:scaling>
        <c:delete val="0"/>
        <c:axPos val="r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B10E28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000" b="0" i="0" u="none" strike="noStrike">
                    <a:solidFill>
                      <a:srgbClr val="B10E28"/>
                    </a:solidFill>
                    <a:latin typeface="Arial" panose="020B0604020202020204"/>
                  </a:rPr>
                  <a:t>Profit ($K)</a:t>
                </a:r>
                <a:endParaRPr sz="1000" b="0" i="0" u="none" strike="noStrike">
                  <a:solidFill>
                    <a:srgbClr val="B10E28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B10E2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5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rgbClr val="595959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34955cd-11da-4c36-98b8-1f2799268e5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E3183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318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17</c:v>
                </c:pt>
                <c:pt idx="2">
                  <c:v>17.4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b"/>
        <c:majorGridlines>
          <c:spPr>
            <a:ln w="9525" cap="flat" cmpd="sng" algn="ctr">
              <a:solidFill>
                <a:srgbClr val="E8E8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43fdf4e-e31d-4953-82d7-c58400cce53b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1A1A1A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18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1837"/>
              </a:solidFill>
              <a:effectLst/>
            </c:spPr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1–20%</c:v>
                </c:pt>
                <c:pt idx="2">
                  <c:v>21–40%</c:v>
                </c:pt>
                <c:pt idx="3">
                  <c:v>Over 40%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12</c:v>
                </c:pt>
                <c:pt idx="2">
                  <c:v>-15</c:v>
                </c:pt>
                <c:pt idx="3">
                  <c:v>-77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-90"/>
        </c:scaling>
        <c:delete val="0"/>
        <c:axPos val="l"/>
        <c:majorGridlines>
          <c:spPr>
            <a:ln w="9525" cap="flat" cmpd="sng" algn="ctr">
              <a:solidFill>
                <a:srgbClr val="E8E8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b524b37-672c-4635-8b84-1d4f8cb1940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41014"/>
          </a:solidFill>
        </p:spPr>
      </p:sp>
      <p:sp>
        <p:nvSpPr>
          <p:cNvPr id="4" name="Shape 2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E1319"/>
          </a:solidFill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318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STAPLES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377440"/>
            <a:ext cx="96012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Executive Retail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Performance Review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Fiscal Years 2014 – 2017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4709160"/>
            <a:ext cx="1097280" cy="0"/>
          </a:xfrm>
          <a:prstGeom prst="line">
            <a:avLst/>
          </a:prstGeom>
          <a:noFill/>
          <a:ln w="31750">
            <a:solidFill>
              <a:srgbClr val="E318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8463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for Executive Review  •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years of steady growth — with two specific issues quietly eating into profit.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262626"/>
          </a:solidFill>
        </p:spPr>
      </p:sp>
      <p:sp>
        <p:nvSpPr>
          <p:cNvPr id="5" name="Text 3"/>
          <p:cNvSpPr txBox="1"/>
          <p:nvPr/>
        </p:nvSpPr>
        <p:spPr>
          <a:xfrm>
            <a:off x="502920" y="1527048"/>
            <a:ext cx="1650492" cy="6858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$2.30M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67712"/>
            <a:ext cx="1650492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63724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262626"/>
          </a:solidFill>
        </p:spPr>
      </p:sp>
      <p:sp>
        <p:nvSpPr>
          <p:cNvPr id="8" name="Text 6"/>
          <p:cNvSpPr txBox="1"/>
          <p:nvPr/>
        </p:nvSpPr>
        <p:spPr>
          <a:xfrm>
            <a:off x="2409444" y="1527048"/>
            <a:ext cx="1650492" cy="6858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$286K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409444" y="2267712"/>
            <a:ext cx="1650492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262626"/>
          </a:solidFill>
        </p:spPr>
      </p:sp>
      <p:sp>
        <p:nvSpPr>
          <p:cNvPr id="11" name="Text 9"/>
          <p:cNvSpPr txBox="1"/>
          <p:nvPr/>
        </p:nvSpPr>
        <p:spPr>
          <a:xfrm>
            <a:off x="4315968" y="1527048"/>
            <a:ext cx="1650492" cy="6858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12.5%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2267712"/>
            <a:ext cx="1650492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Margin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6772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262626"/>
          </a:solidFill>
        </p:spPr>
      </p:sp>
      <p:sp>
        <p:nvSpPr>
          <p:cNvPr id="14" name="Text 12"/>
          <p:cNvSpPr txBox="1"/>
          <p:nvPr/>
        </p:nvSpPr>
        <p:spPr>
          <a:xfrm>
            <a:off x="6222492" y="1527048"/>
            <a:ext cx="1650492" cy="6858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5,009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22492" y="2267712"/>
            <a:ext cx="1650492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83296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262626"/>
          </a:solidFill>
        </p:spPr>
      </p:sp>
      <p:sp>
        <p:nvSpPr>
          <p:cNvPr id="17" name="Text 15"/>
          <p:cNvSpPr txBox="1"/>
          <p:nvPr/>
        </p:nvSpPr>
        <p:spPr>
          <a:xfrm>
            <a:off x="8129016" y="1527048"/>
            <a:ext cx="1650492" cy="6858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129016" y="2267712"/>
            <a:ext cx="1650492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89820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262626"/>
          </a:solidFill>
        </p:spPr>
      </p:sp>
      <p:sp>
        <p:nvSpPr>
          <p:cNvPr id="20" name="Text 18"/>
          <p:cNvSpPr txBox="1"/>
          <p:nvPr/>
        </p:nvSpPr>
        <p:spPr>
          <a:xfrm>
            <a:off x="10035540" y="1527048"/>
            <a:ext cx="1650492" cy="6858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0035540" y="2267712"/>
            <a:ext cx="1650492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71800"/>
            <a:ext cx="5440680" cy="45720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24" name="Text 22"/>
          <p:cNvSpPr txBox="1"/>
          <p:nvPr/>
        </p:nvSpPr>
        <p:spPr>
          <a:xfrm>
            <a:off x="457200" y="2971800"/>
            <a:ext cx="5440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WORKING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3611880"/>
            <a:ext cx="292608" cy="292608"/>
          </a:xfrm>
          <a:prstGeom prst="ellipse">
            <a:avLst/>
          </a:prstGeom>
          <a:solidFill>
            <a:srgbClr val="1F7A3D"/>
          </a:solidFill>
        </p:spPr>
      </p:sp>
      <p:sp>
        <p:nvSpPr>
          <p:cNvPr id="26" name="Text 24"/>
          <p:cNvSpPr txBox="1"/>
          <p:nvPr/>
        </p:nvSpPr>
        <p:spPr>
          <a:xfrm>
            <a:off x="658368" y="361188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557016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growth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3831336"/>
            <a:ext cx="4617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up 51% and profit up 89% from 2014 to 2017 — every single year positive.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4480560"/>
            <a:ext cx="292608" cy="292608"/>
          </a:xfrm>
          <a:prstGeom prst="ellipse">
            <a:avLst/>
          </a:prstGeom>
          <a:solidFill>
            <a:srgbClr val="1F7A3D"/>
          </a:solidFill>
        </p:spPr>
      </p:sp>
      <p:sp>
        <p:nvSpPr>
          <p:cNvPr id="30" name="Text 28"/>
          <p:cNvSpPr txBox="1"/>
          <p:nvPr/>
        </p:nvSpPr>
        <p:spPr>
          <a:xfrm>
            <a:off x="658368" y="448056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425696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&amp; Office Supplies excel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4700016"/>
            <a:ext cx="4617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post ~17% margins and generate two-thirds of all company profit.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" y="5349240"/>
            <a:ext cx="292608" cy="292608"/>
          </a:xfrm>
          <a:prstGeom prst="ellipse">
            <a:avLst/>
          </a:prstGeom>
          <a:solidFill>
            <a:srgbClr val="1F7A3D"/>
          </a:solidFill>
        </p:spPr>
      </p:sp>
      <p:sp>
        <p:nvSpPr>
          <p:cNvPr id="34" name="Text 32"/>
          <p:cNvSpPr txBox="1"/>
          <p:nvPr/>
        </p:nvSpPr>
        <p:spPr>
          <a:xfrm>
            <a:off x="658368" y="534924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5294376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under control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5568696"/>
            <a:ext cx="4617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5.9% return rate is healthy for retail and not a material drag.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297180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2971800"/>
            <a:ext cx="5440680" cy="457200"/>
          </a:xfrm>
          <a:prstGeom prst="rect">
            <a:avLst/>
          </a:prstGeom>
          <a:solidFill>
            <a:srgbClr val="E31837"/>
          </a:solidFill>
        </p:spPr>
      </p:sp>
      <p:sp>
        <p:nvSpPr>
          <p:cNvPr id="39" name="Text 37"/>
          <p:cNvSpPr txBox="1"/>
          <p:nvPr/>
        </p:nvSpPr>
        <p:spPr>
          <a:xfrm>
            <a:off x="6263640" y="2971800"/>
            <a:ext cx="5440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ATTENTION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64808" y="3611880"/>
            <a:ext cx="292608" cy="292608"/>
          </a:xfrm>
          <a:prstGeom prst="ellipse">
            <a:avLst/>
          </a:prstGeom>
          <a:solidFill>
            <a:srgbClr val="E31837"/>
          </a:solidFill>
        </p:spPr>
      </p:sp>
      <p:sp>
        <p:nvSpPr>
          <p:cNvPr id="41" name="Text 39"/>
          <p:cNvSpPr txBox="1"/>
          <p:nvPr/>
        </p:nvSpPr>
        <p:spPr>
          <a:xfrm>
            <a:off x="6464808" y="361188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3557016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Furniture barely profitable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3831336"/>
            <a:ext cx="4617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$742K in sales but only a 2.5% margin — Tables &amp; Bookcases lose money outright.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64808" y="4480560"/>
            <a:ext cx="292608" cy="292608"/>
          </a:xfrm>
          <a:prstGeom prst="ellipse">
            <a:avLst/>
          </a:prstGeom>
          <a:solidFill>
            <a:srgbClr val="E31837"/>
          </a:solidFill>
        </p:spPr>
      </p:sp>
      <p:sp>
        <p:nvSpPr>
          <p:cNvPr id="45" name="Text 43"/>
          <p:cNvSpPr txBox="1"/>
          <p:nvPr/>
        </p:nvSpPr>
        <p:spPr>
          <a:xfrm>
            <a:off x="6464808" y="448056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6903720" y="4425696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discounts erase profit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03720" y="4700016"/>
            <a:ext cx="4617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discounted over 20% lose money on every sale — an est. $135K lost.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64808" y="5349240"/>
            <a:ext cx="292608" cy="292608"/>
          </a:xfrm>
          <a:prstGeom prst="ellipse">
            <a:avLst/>
          </a:prstGeom>
          <a:solidFill>
            <a:srgbClr val="E31837"/>
          </a:solidFill>
        </p:spPr>
      </p:sp>
      <p:sp>
        <p:nvSpPr>
          <p:cNvPr id="49" name="Text 47"/>
          <p:cNvSpPr txBox="1"/>
          <p:nvPr/>
        </p:nvSpPr>
        <p:spPr>
          <a:xfrm>
            <a:off x="6464808" y="534924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6903720" y="5294376"/>
            <a:ext cx="4617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states sell well, lose money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03720" y="5568696"/>
            <a:ext cx="4617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TX, OH, PA &amp; IL rank top-10 for sales yet all post a net loss.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STAPLES  |  EXECUTIVE RETAIL PERFORMANCE REVIEW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Straight Years of Growth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and profit have both climbed every year since 2014.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704088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A1A1A"/>
          </a:solidFill>
        </p:spPr>
      </p:sp>
      <p:sp>
        <p:nvSpPr>
          <p:cNvPr id="6" name="Text 3"/>
          <p:cNvSpPr txBox="1"/>
          <p:nvPr/>
        </p:nvSpPr>
        <p:spPr>
          <a:xfrm>
            <a:off x="7863840" y="1527048"/>
            <a:ext cx="3840480" cy="8229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+51%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404872"/>
            <a:ext cx="38404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growth, 2014 → 2017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1812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31837"/>
          </a:solidFill>
        </p:spPr>
      </p:sp>
      <p:sp>
        <p:nvSpPr>
          <p:cNvPr id="9" name="Text 6"/>
          <p:cNvSpPr txBox="1"/>
          <p:nvPr/>
        </p:nvSpPr>
        <p:spPr>
          <a:xfrm>
            <a:off x="7863840" y="3035808"/>
            <a:ext cx="3840480" cy="8229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+89%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913632"/>
            <a:ext cx="38404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growth, 2014 → 2017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4434840"/>
            <a:ext cx="3931920" cy="1691640"/>
          </a:xfrm>
          <a:prstGeom prst="roundRect">
            <a:avLst>
              <a:gd name="adj" fmla="val 3243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457200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10E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item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4864608"/>
            <a:ext cx="3474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Margin softened slightly in 2017 (12.7%) after peaking at 13.4% in 2016 — worth monitoring alongside the discount trend on the next slides.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STAPLES  |  EXECUTIVE RETAIL PERFORMANCE REVIEW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Category Is Dragging Down Margin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Furniture sells well but barely turns a profit — Technology and Office Supplies carry the business.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69494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00600"/>
            <a:ext cx="694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Furniture is not small — it's $742K of revenue, nearly a third of total sales.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80960" y="1463040"/>
            <a:ext cx="4069080" cy="3611880"/>
          </a:xfrm>
          <a:prstGeom prst="roundRect">
            <a:avLst>
              <a:gd name="adj" fmla="val 1519"/>
            </a:avLst>
          </a:prstGeom>
          <a:solidFill>
            <a:srgbClr val="1A1A1A"/>
          </a:solidFill>
        </p:spPr>
      </p:sp>
      <p:sp>
        <p:nvSpPr>
          <p:cNvPr id="7" name="Text 4"/>
          <p:cNvSpPr txBox="1"/>
          <p:nvPr/>
        </p:nvSpPr>
        <p:spPr>
          <a:xfrm>
            <a:off x="7955280" y="1691640"/>
            <a:ext cx="3520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318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TWO CULPRITS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103120"/>
            <a:ext cx="3520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2450592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-8.6% margin  •  loses ~$17.7K on $207K sold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55280" y="2971800"/>
            <a:ext cx="35204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3127248"/>
            <a:ext cx="3520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Bookcases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3474720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-3.0% margin  •  loses ~$3.5K on $115K sold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55280" y="3977640"/>
            <a:ext cx="35204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0" y="4114800"/>
            <a:ext cx="3520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other Furniture sub-category (Chairs, Storage, Furnishings, Appliances) is profitable — the issue is concentrated in these two lines.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STAPLES  |  EXECUTIVE RETAIL PERFORMANCE REVIEW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Deep Discounts Are Costing Us Money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 a 20% discount, orders stop being profitable — and the deeper the discount, the bigger the loss.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70408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31837"/>
          </a:solidFill>
        </p:spPr>
      </p:sp>
      <p:sp>
        <p:nvSpPr>
          <p:cNvPr id="6" name="Text 3"/>
          <p:cNvSpPr txBox="1"/>
          <p:nvPr/>
        </p:nvSpPr>
        <p:spPr>
          <a:xfrm>
            <a:off x="7863840" y="1572768"/>
            <a:ext cx="3840480" cy="11887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-$135K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816352"/>
            <a:ext cx="38404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to orders discounted over 20%, 2014–2017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18120" y="3337560"/>
            <a:ext cx="3931920" cy="1874520"/>
          </a:xfrm>
          <a:prstGeom prst="roundRect">
            <a:avLst>
              <a:gd name="adj" fmla="val 2927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3493008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794760"/>
            <a:ext cx="347472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Full-price orders earn a healthy 30% margin. Every discount tier past 20% flips to a loss — meaning some deals are actively costing us money to close.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STAPLES  |  EXECUTIVE RETAIL PERFORMANCE REVIEW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Strong Sales, Negative Profit — In 4 States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Texas, Ohio, Pennsylvania, and Illinois all rank in the top 10 states for sales — yet each loses money overall, likely tied to the same discounting pattern.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24328" cy="310896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2624328" cy="50292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26243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26243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$170K sales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26243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18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-$25.7K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91840"/>
            <a:ext cx="26243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1709928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840480"/>
            <a:ext cx="2624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-15.1% margin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4408" y="1600200"/>
            <a:ext cx="2624328" cy="310896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600200"/>
            <a:ext cx="2624328" cy="50292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14" name="Text 12"/>
          <p:cNvSpPr txBox="1"/>
          <p:nvPr/>
        </p:nvSpPr>
        <p:spPr>
          <a:xfrm>
            <a:off x="3264408" y="1600200"/>
            <a:ext cx="26243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Ohio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64408" y="2240280"/>
            <a:ext cx="26243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$78K sales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64408" y="2651760"/>
            <a:ext cx="26243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18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-$17.0K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264408" y="3291840"/>
            <a:ext cx="26243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21608" y="3703320"/>
            <a:ext cx="1709928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64408" y="3840480"/>
            <a:ext cx="2624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-21.7% margin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00200"/>
            <a:ext cx="2624328" cy="310896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600200"/>
            <a:ext cx="2624328" cy="50292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22" name="Text 20"/>
          <p:cNvSpPr txBox="1"/>
          <p:nvPr/>
        </p:nvSpPr>
        <p:spPr>
          <a:xfrm>
            <a:off x="6071616" y="1600200"/>
            <a:ext cx="26243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Pennsylvania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71616" y="2240280"/>
            <a:ext cx="26243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$117K sales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71616" y="2651760"/>
            <a:ext cx="26243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18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-$15.6K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071616" y="3291840"/>
            <a:ext cx="26243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28816" y="3703320"/>
            <a:ext cx="1709928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71616" y="3840480"/>
            <a:ext cx="2624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-13.4% margin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78824" y="1600200"/>
            <a:ext cx="2624328" cy="310896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8824" y="1600200"/>
            <a:ext cx="2624328" cy="50292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30" name="Text 28"/>
          <p:cNvSpPr txBox="1"/>
          <p:nvPr/>
        </p:nvSpPr>
        <p:spPr>
          <a:xfrm>
            <a:off x="8878824" y="1600200"/>
            <a:ext cx="26243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Illinois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78824" y="2240280"/>
            <a:ext cx="26243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$80K sales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878824" y="2651760"/>
            <a:ext cx="26243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18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-$12.6K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8878824" y="3291840"/>
            <a:ext cx="26243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36024" y="3703320"/>
            <a:ext cx="1709928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78824" y="3840480"/>
            <a:ext cx="26243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-15.7% margin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937760"/>
            <a:ext cx="11274552" cy="1143000"/>
          </a:xfrm>
          <a:prstGeom prst="roundRect">
            <a:avLst>
              <a:gd name="adj" fmla="val 4800"/>
            </a:avLst>
          </a:prstGeom>
          <a:solidFill>
            <a:srgbClr val="1A1A1A"/>
          </a:solidFill>
        </p:spPr>
      </p:sp>
      <p:sp>
        <p:nvSpPr>
          <p:cNvPr id="37" name="Shape 35"/>
          <p:cNvSpPr/>
          <p:nvPr/>
        </p:nvSpPr>
        <p:spPr>
          <a:xfrm>
            <a:off x="713232" y="5175504"/>
            <a:ext cx="438912" cy="438912"/>
          </a:xfrm>
          <a:prstGeom prst="ellipse">
            <a:avLst/>
          </a:prstGeom>
          <a:solidFill>
            <a:srgbClr val="E31837"/>
          </a:solidFill>
        </p:spPr>
      </p:sp>
      <p:sp>
        <p:nvSpPr>
          <p:cNvPr id="38" name="Text 36"/>
          <p:cNvSpPr txBox="1"/>
          <p:nvPr/>
        </p:nvSpPr>
        <p:spPr>
          <a:xfrm>
            <a:off x="713232" y="5175504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71600" y="4937760"/>
            <a:ext cx="100584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Combined, these four states account for roughly $71K in lost profit — nearly a quarter of what's currently being made company-wide.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STAPLES  |  EXECUTIVE RETAIL PERFORMANCE REVIEW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targeted moves to convert existing sales strength into stronger profit.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2331720"/>
          </a:xfrm>
          <a:prstGeom prst="roundRect">
            <a:avLst>
              <a:gd name="adj" fmla="val 2353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E31837"/>
          </a:solidFill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19072"/>
            <a:ext cx="4251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 discounts at 20%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48920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 manager approval above that line. This is the single biggest lever — it directly targets the ~$135K currently lost to deep discounting.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40680" cy="2331720"/>
          </a:xfrm>
          <a:prstGeom prst="roundRect">
            <a:avLst>
              <a:gd name="adj" fmla="val 2353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E31837"/>
          </a:solidFill>
        </p:spPr>
      </p:sp>
      <p:sp>
        <p:nvSpPr>
          <p:cNvPr id="11" name="Text 9"/>
          <p:cNvSpPr txBox="1"/>
          <p:nvPr/>
        </p:nvSpPr>
        <p:spPr>
          <a:xfrm>
            <a:off x="6537960" y="17373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19072"/>
            <a:ext cx="4251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or phase out Tables &amp; Bookcases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23160"/>
            <a:ext cx="48920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Renegotiate supplier costs, raise prices, or trim assortment in these two lines until they're profitable — the rest of Furniture is healthy.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5440680" cy="2331720"/>
          </a:xfrm>
          <a:prstGeom prst="roundRect">
            <a:avLst>
              <a:gd name="adj" fmla="val 2353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E31837"/>
          </a:solidFill>
        </p:spPr>
      </p:sp>
      <p:sp>
        <p:nvSpPr>
          <p:cNvPr id="16" name="Text 14"/>
          <p:cNvSpPr txBox="1"/>
          <p:nvPr/>
        </p:nvSpPr>
        <p:spPr>
          <a:xfrm>
            <a:off x="731520" y="4343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25112"/>
            <a:ext cx="4251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discounting in TX, OH, PA &amp; IL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029200"/>
            <a:ext cx="48920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states show the same loss pattern as the deep-discount tiers — a regional pricing review should confirm and fix the cause.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440680" cy="2331720"/>
          </a:xfrm>
          <a:prstGeom prst="roundRect">
            <a:avLst>
              <a:gd name="adj" fmla="val 2353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343400"/>
            <a:ext cx="502920" cy="502920"/>
          </a:xfrm>
          <a:prstGeom prst="ellipse">
            <a:avLst/>
          </a:prstGeom>
          <a:solidFill>
            <a:srgbClr val="E31837"/>
          </a:solidFill>
        </p:spPr>
      </p:sp>
      <p:sp>
        <p:nvSpPr>
          <p:cNvPr id="21" name="Text 19"/>
          <p:cNvSpPr txBox="1"/>
          <p:nvPr/>
        </p:nvSpPr>
        <p:spPr>
          <a:xfrm>
            <a:off x="6537960" y="4343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325112"/>
            <a:ext cx="4251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 down on what's working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029200"/>
            <a:ext cx="48920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marketing and inventory investment toward Technology and Office Supplies, where every dollar of sales returns the most profit.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STAPLES  |  EXECUTIVE RETAIL PERFORMANCE REVIEW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41014"/>
          </a:solidFill>
        </p:spPr>
      </p:sp>
      <p:sp>
        <p:nvSpPr>
          <p:cNvPr id="3" name="Text 1"/>
          <p:cNvSpPr txBox="1"/>
          <p:nvPr/>
        </p:nvSpPr>
        <p:spPr>
          <a:xfrm>
            <a:off x="640080" y="210312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880360"/>
            <a:ext cx="8686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 is real and healthy. Fixing discount discipline and two underperforming product lines could meaningfully lift the 12.5% margin — without needing a single new customer.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4160520"/>
            <a:ext cx="1097280" cy="0"/>
          </a:xfrm>
          <a:prstGeom prst="line">
            <a:avLst/>
          </a:prstGeom>
          <a:noFill/>
          <a:ln w="31750">
            <a:solidFill>
              <a:srgbClr val="E318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34340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18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STAPLES  |  EXECUTIVE RETAIL PERFORMANCE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3837</Words>
  <Application>WPS Presentation</Application>
  <PresentationFormat>On-screen Show (16:9)</PresentationFormat>
  <Paragraphs>233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Claudia Al_Amir</cp:lastModifiedBy>
  <cp:revision>2</cp:revision>
  <dcterms:created xsi:type="dcterms:W3CDTF">2026-08-29T08:28:00Z</dcterms:created>
  <dcterms:modified xsi:type="dcterms:W3CDTF">2026-08-29T09:01:30Z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92CB3290FC7244298A82A02029F4FBB3_12</vt:lpwstr>
  </property>
  <property fmtid="{D5CDD505-2E9C-101B-9397-08002B2CF9AE}" pid="3" name="KSOProductBuildVer">
    <vt:lpwstr>1033-12.1.0.28032</vt:lpwstr>
  </property>
</Properties>
</file>